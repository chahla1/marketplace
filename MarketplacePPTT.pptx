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uli Heavy" charset="1" panose="00000A00000000000000"/>
      <p:regular r:id="rId18"/>
    </p:embeddedFont>
    <p:embeddedFont>
      <p:font typeface="Muli Semi-Bold" charset="1" panose="00000700000000000000"/>
      <p:regular r:id="rId19"/>
    </p:embeddedFont>
    <p:embeddedFont>
      <p:font typeface="Muli" charset="1" panose="00000500000000000000"/>
      <p:regular r:id="rId20"/>
    </p:embeddedFont>
    <p:embeddedFont>
      <p:font typeface="Muli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5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46990" y="4355803"/>
            <a:ext cx="1526842" cy="763421"/>
          </a:xfrm>
          <a:custGeom>
            <a:avLst/>
            <a:gdLst/>
            <a:ahLst/>
            <a:cxnLst/>
            <a:rect r="r" b="b" t="t" l="l"/>
            <a:pathLst>
              <a:path h="763421" w="1526842">
                <a:moveTo>
                  <a:pt x="0" y="0"/>
                </a:moveTo>
                <a:lnTo>
                  <a:pt x="1526841" y="0"/>
                </a:lnTo>
                <a:lnTo>
                  <a:pt x="1526841" y="763421"/>
                </a:lnTo>
                <a:lnTo>
                  <a:pt x="0" y="76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554341" y="3429092"/>
            <a:ext cx="18554862" cy="9277431"/>
          </a:xfrm>
          <a:custGeom>
            <a:avLst/>
            <a:gdLst/>
            <a:ahLst/>
            <a:cxnLst/>
            <a:rect r="r" b="b" t="t" l="l"/>
            <a:pathLst>
              <a:path h="9277431" w="18554862">
                <a:moveTo>
                  <a:pt x="0" y="0"/>
                </a:moveTo>
                <a:lnTo>
                  <a:pt x="18554863" y="0"/>
                </a:lnTo>
                <a:lnTo>
                  <a:pt x="18554863" y="9277431"/>
                </a:lnTo>
                <a:lnTo>
                  <a:pt x="0" y="9277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13396" y="3764552"/>
            <a:ext cx="8642591" cy="2757895"/>
            <a:chOff x="0" y="0"/>
            <a:chExt cx="11523454" cy="367719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09735"/>
              <a:ext cx="11523454" cy="2330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00"/>
                </a:lnSpc>
              </a:pPr>
              <a:r>
                <a:rPr lang="en-US" sz="12000" b="true">
                  <a:solidFill>
                    <a:srgbClr val="EFD1A9"/>
                  </a:solidFill>
                  <a:latin typeface="Muli Heavy"/>
                  <a:ea typeface="Muli Heavy"/>
                  <a:cs typeface="Muli Heavy"/>
                  <a:sym typeface="Muli Heavy"/>
                </a:rPr>
                <a:t>AVITO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005778"/>
              <a:ext cx="11523454" cy="666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pc="165">
                  <a:solidFill>
                    <a:srgbClr val="F1EEEE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APLIC</a:t>
              </a:r>
              <a:r>
                <a:rPr lang="en-US" b="true" sz="3000" spc="165">
                  <a:solidFill>
                    <a:srgbClr val="F1EEEE"/>
                  </a:solidFill>
                  <a:latin typeface="Muli Semi-Bold"/>
                  <a:ea typeface="Muli Semi-Bold"/>
                  <a:cs typeface="Muli Semi-Bold"/>
                  <a:sym typeface="Muli Semi-Bold"/>
                </a:rPr>
                <a:t>ACIÓN MARKETPLACE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917321" y="1314450"/>
            <a:ext cx="4878132" cy="9913582"/>
            <a:chOff x="0" y="0"/>
            <a:chExt cx="5001260" cy="10163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6"/>
              <a:stretch>
                <a:fillRect l="-45" t="0" r="-45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7"/>
              <a:stretch>
                <a:fillRect l="-138020" t="-117869" r="-77565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6521" y="1019175"/>
            <a:ext cx="6860308" cy="191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8"/>
              </a:lnSpc>
            </a:pPr>
            <a:r>
              <a:rPr lang="en-US" sz="6340" b="true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Pru</a:t>
            </a:r>
            <a:r>
              <a:rPr lang="en-US" sz="6340" b="true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eba de Concepto (POC)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6521" y="4702268"/>
            <a:ext cx="11425037" cy="294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0" indent="-453385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PROGRAMACION DIRIGIDA POR EVENTOS</a:t>
            </a:r>
          </a:p>
          <a:p>
            <a:pPr algn="l" marL="906770" indent="-453385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INGENIERIA INFORMATICA</a:t>
            </a:r>
          </a:p>
          <a:p>
            <a:pPr algn="l" marL="906770" indent="-453385" lvl="1">
              <a:lnSpc>
                <a:spcPts val="5879"/>
              </a:lnSpc>
              <a:spcBef>
                <a:spcPct val="0"/>
              </a:spcBef>
              <a:buFont typeface="Arial"/>
              <a:buChar char="•"/>
            </a:pPr>
            <a:r>
              <a:rPr lang="en-US" sz="4199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HECHO POR CHAHLA BOUCHOTROCH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799980" y="1381033"/>
            <a:ext cx="914880" cy="457440"/>
          </a:xfrm>
          <a:custGeom>
            <a:avLst/>
            <a:gdLst/>
            <a:ahLst/>
            <a:cxnLst/>
            <a:rect r="r" b="b" t="t" l="l"/>
            <a:pathLst>
              <a:path h="457440" w="914880">
                <a:moveTo>
                  <a:pt x="0" y="0"/>
                </a:moveTo>
                <a:lnTo>
                  <a:pt x="914880" y="0"/>
                </a:lnTo>
                <a:lnTo>
                  <a:pt x="914880" y="457440"/>
                </a:lnTo>
                <a:lnTo>
                  <a:pt x="0" y="45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5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7237" y="3491338"/>
            <a:ext cx="6309572" cy="418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149" indent="-314075" lvl="1">
              <a:lnSpc>
                <a:spcPts val="4073"/>
              </a:lnSpc>
              <a:spcBef>
                <a:spcPct val="0"/>
              </a:spcBef>
              <a:buFont typeface="Arial"/>
              <a:buChar char="•"/>
            </a:pPr>
            <a:r>
              <a:rPr lang="en-US" sz="290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Desarroll</a:t>
            </a:r>
            <a:r>
              <a:rPr lang="en-US" sz="290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ar una POC de una app Marketplace</a:t>
            </a:r>
          </a:p>
          <a:p>
            <a:pPr algn="l" marL="628149" indent="-314075" lvl="1">
              <a:lnSpc>
                <a:spcPts val="4073"/>
              </a:lnSpc>
              <a:spcBef>
                <a:spcPct val="0"/>
              </a:spcBef>
              <a:buFont typeface="Arial"/>
              <a:buChar char="•"/>
            </a:pPr>
            <a:r>
              <a:rPr lang="en-US" sz="290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Aplicar conocimientos de Android</a:t>
            </a:r>
          </a:p>
          <a:p>
            <a:pPr algn="l" marL="628149" indent="-314075" lvl="1">
              <a:lnSpc>
                <a:spcPts val="4073"/>
              </a:lnSpc>
              <a:spcBef>
                <a:spcPct val="0"/>
              </a:spcBef>
              <a:buFont typeface="Arial"/>
              <a:buChar char="•"/>
            </a:pPr>
            <a:r>
              <a:rPr lang="en-US" sz="290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Implementar funcionalidades mínimas requeridas</a:t>
            </a:r>
          </a:p>
          <a:p>
            <a:pPr algn="l" marL="628149" indent="-314075" lvl="1">
              <a:lnSpc>
                <a:spcPts val="4073"/>
              </a:lnSpc>
              <a:spcBef>
                <a:spcPct val="0"/>
              </a:spcBef>
              <a:buFont typeface="Arial"/>
              <a:buChar char="•"/>
            </a:pPr>
            <a:r>
              <a:rPr lang="en-US" sz="290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Usar tecnologías actuales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7243371" y="6634783"/>
            <a:ext cx="10494067" cy="5247033"/>
          </a:xfrm>
          <a:custGeom>
            <a:avLst/>
            <a:gdLst/>
            <a:ahLst/>
            <a:cxnLst/>
            <a:rect r="r" b="b" t="t" l="l"/>
            <a:pathLst>
              <a:path h="5247033" w="10494067">
                <a:moveTo>
                  <a:pt x="0" y="0"/>
                </a:moveTo>
                <a:lnTo>
                  <a:pt x="10494067" y="0"/>
                </a:lnTo>
                <a:lnTo>
                  <a:pt x="10494067" y="5247034"/>
                </a:lnTo>
                <a:lnTo>
                  <a:pt x="0" y="5247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465654" y="1028700"/>
            <a:ext cx="4049502" cy="8229600"/>
            <a:chOff x="0" y="0"/>
            <a:chExt cx="5001260" cy="10163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4"/>
              <a:stretch>
                <a:fillRect l="-45" t="0" r="-4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-138020" t="-117869" r="-77565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727752" y="1329648"/>
            <a:ext cx="1203791" cy="601895"/>
          </a:xfrm>
          <a:custGeom>
            <a:avLst/>
            <a:gdLst/>
            <a:ahLst/>
            <a:cxnLst/>
            <a:rect r="r" b="b" t="t" l="l"/>
            <a:pathLst>
              <a:path h="601895" w="1203791">
                <a:moveTo>
                  <a:pt x="0" y="0"/>
                </a:moveTo>
                <a:lnTo>
                  <a:pt x="1203791" y="0"/>
                </a:lnTo>
                <a:lnTo>
                  <a:pt x="1203791" y="601895"/>
                </a:lnTo>
                <a:lnTo>
                  <a:pt x="0" y="6018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47237" y="401870"/>
            <a:ext cx="10300955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EFD1A9"/>
                </a:solidFill>
                <a:latin typeface="Muli Heavy"/>
                <a:ea typeface="Muli Heavy"/>
                <a:cs typeface="Muli Heavy"/>
                <a:sym typeface="Muli Heavy"/>
              </a:rPr>
              <a:t>OBJETIVO DEL PROYECTO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D1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99980" y="1400048"/>
            <a:ext cx="914880" cy="457440"/>
          </a:xfrm>
          <a:custGeom>
            <a:avLst/>
            <a:gdLst/>
            <a:ahLst/>
            <a:cxnLst/>
            <a:rect r="r" b="b" t="t" l="l"/>
            <a:pathLst>
              <a:path h="457440" w="914880">
                <a:moveTo>
                  <a:pt x="0" y="0"/>
                </a:moveTo>
                <a:lnTo>
                  <a:pt x="914880" y="0"/>
                </a:lnTo>
                <a:lnTo>
                  <a:pt x="914880" y="457440"/>
                </a:lnTo>
                <a:lnTo>
                  <a:pt x="0" y="45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22581" y="1019175"/>
            <a:ext cx="10300955" cy="243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TECN</a:t>
            </a:r>
            <a:r>
              <a:rPr lang="en-US" sz="8000" b="true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OLOGÍAS UTILIZADAS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22581" y="5268914"/>
            <a:ext cx="6613113" cy="245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156" indent="-378078" lvl="1">
              <a:lnSpc>
                <a:spcPts val="49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2">
                <a:solidFill>
                  <a:srgbClr val="3050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KO</a:t>
            </a:r>
            <a:r>
              <a:rPr lang="en-US" b="true" sz="3502">
                <a:solidFill>
                  <a:srgbClr val="3050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TLIN</a:t>
            </a:r>
          </a:p>
          <a:p>
            <a:pPr algn="l" marL="756156" indent="-378078" lvl="1">
              <a:lnSpc>
                <a:spcPts val="49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2">
                <a:solidFill>
                  <a:srgbClr val="3050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ANDROID STUDIO</a:t>
            </a:r>
          </a:p>
          <a:p>
            <a:pPr algn="l" marL="756156" indent="-378078" lvl="1">
              <a:lnSpc>
                <a:spcPts val="49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2">
                <a:solidFill>
                  <a:srgbClr val="3050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JETPACK COMPOSE</a:t>
            </a:r>
          </a:p>
          <a:p>
            <a:pPr algn="l">
              <a:lnSpc>
                <a:spcPts val="490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370445" y="5268914"/>
            <a:ext cx="7331217" cy="245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156" indent="-378078" lvl="1">
              <a:lnSpc>
                <a:spcPts val="49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2">
                <a:solidFill>
                  <a:srgbClr val="3050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ROOM</a:t>
            </a:r>
            <a:r>
              <a:rPr lang="en-US" b="true" sz="3502">
                <a:solidFill>
                  <a:srgbClr val="3050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 (PERSISTENCIA LOCAL)</a:t>
            </a:r>
          </a:p>
          <a:p>
            <a:pPr algn="l" marL="756156" indent="-378078" lvl="1">
              <a:lnSpc>
                <a:spcPts val="49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2">
                <a:solidFill>
                  <a:srgbClr val="3050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FIREBASE AUTHENTICATION</a:t>
            </a:r>
          </a:p>
          <a:p>
            <a:pPr algn="l" marL="756156" indent="-378078" lvl="1">
              <a:lnSpc>
                <a:spcPts val="49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2">
                <a:solidFill>
                  <a:srgbClr val="3050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NAVIGATION COMPOSE</a:t>
            </a:r>
          </a:p>
          <a:p>
            <a:pPr algn="l">
              <a:lnSpc>
                <a:spcPts val="49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5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000880" y="1257420"/>
            <a:ext cx="914880" cy="457440"/>
          </a:xfrm>
          <a:custGeom>
            <a:avLst/>
            <a:gdLst/>
            <a:ahLst/>
            <a:cxnLst/>
            <a:rect r="r" b="b" t="t" l="l"/>
            <a:pathLst>
              <a:path h="457440" w="914880">
                <a:moveTo>
                  <a:pt x="0" y="0"/>
                </a:moveTo>
                <a:lnTo>
                  <a:pt x="914880" y="0"/>
                </a:lnTo>
                <a:lnTo>
                  <a:pt x="914880" y="457440"/>
                </a:lnTo>
                <a:lnTo>
                  <a:pt x="0" y="45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229600" cy="10210800"/>
          </a:xfrm>
          <a:custGeom>
            <a:avLst/>
            <a:gdLst/>
            <a:ahLst/>
            <a:cxnLst/>
            <a:rect r="r" b="b" t="t" l="l"/>
            <a:pathLst>
              <a:path h="10210800" w="8229600">
                <a:moveTo>
                  <a:pt x="0" y="0"/>
                </a:moveTo>
                <a:lnTo>
                  <a:pt x="8229600" y="0"/>
                </a:lnTo>
                <a:lnTo>
                  <a:pt x="8229600" y="10210800"/>
                </a:lnTo>
                <a:lnTo>
                  <a:pt x="0" y="1021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21776" y="3948111"/>
            <a:ext cx="7837524" cy="425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2456" indent="-526228" lvl="1">
              <a:lnSpc>
                <a:spcPts val="6824"/>
              </a:lnSpc>
              <a:spcBef>
                <a:spcPct val="0"/>
              </a:spcBef>
              <a:buFont typeface="Arial"/>
              <a:buChar char="•"/>
            </a:pPr>
            <a:r>
              <a:rPr lang="en-US" sz="4874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ARQUITECTURA POR CAP</a:t>
            </a:r>
            <a:r>
              <a:rPr lang="en-US" sz="4874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AS</a:t>
            </a:r>
          </a:p>
          <a:p>
            <a:pPr algn="l" marL="1052456" indent="-526228" lvl="1">
              <a:lnSpc>
                <a:spcPts val="6824"/>
              </a:lnSpc>
              <a:spcBef>
                <a:spcPct val="0"/>
              </a:spcBef>
              <a:buFont typeface="Arial"/>
              <a:buChar char="•"/>
            </a:pPr>
            <a:r>
              <a:rPr lang="en-US" sz="4874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SEPARACIÓN DE RESPONSABILIDADES</a:t>
            </a:r>
          </a:p>
          <a:p>
            <a:pPr algn="l">
              <a:lnSpc>
                <a:spcPts val="682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728427"/>
            <a:ext cx="8115300" cy="189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8"/>
              </a:lnSpc>
            </a:pPr>
            <a:r>
              <a:rPr lang="en-US" b="true" sz="6223">
                <a:solidFill>
                  <a:srgbClr val="F1EEEE"/>
                </a:solidFill>
                <a:latin typeface="Muli Bold"/>
                <a:ea typeface="Muli Bold"/>
                <a:cs typeface="Muli Bold"/>
                <a:sym typeface="Muli Bold"/>
              </a:rPr>
              <a:t>ARQUITECTURA DEL SISTEMA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5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81710" y="1720107"/>
            <a:ext cx="1526842" cy="763421"/>
          </a:xfrm>
          <a:custGeom>
            <a:avLst/>
            <a:gdLst/>
            <a:ahLst/>
            <a:cxnLst/>
            <a:rect r="r" b="b" t="t" l="l"/>
            <a:pathLst>
              <a:path h="763421" w="1526842">
                <a:moveTo>
                  <a:pt x="0" y="0"/>
                </a:moveTo>
                <a:lnTo>
                  <a:pt x="1526841" y="0"/>
                </a:lnTo>
                <a:lnTo>
                  <a:pt x="1526841" y="763421"/>
                </a:lnTo>
                <a:lnTo>
                  <a:pt x="0" y="76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42859"/>
            <a:ext cx="13703123" cy="281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0"/>
              </a:lnSpc>
            </a:pPr>
            <a:r>
              <a:rPr lang="en-US" sz="10009" b="true">
                <a:solidFill>
                  <a:srgbClr val="EFD1A9"/>
                </a:solidFill>
                <a:latin typeface="Muli Heavy"/>
                <a:ea typeface="Muli Heavy"/>
                <a:cs typeface="Muli Heavy"/>
                <a:sym typeface="Muli Heavy"/>
              </a:rPr>
              <a:t>FUNCIONALIDADES IMPLEMENTADAS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68515" y="4731955"/>
            <a:ext cx="9463309" cy="5170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0" indent="-453385" lvl="1">
              <a:lnSpc>
                <a:spcPts val="5879"/>
              </a:lnSpc>
              <a:spcBef>
                <a:spcPct val="0"/>
              </a:spcBef>
              <a:buFont typeface="Arial"/>
              <a:buChar char="•"/>
            </a:pPr>
            <a:r>
              <a:rPr lang="en-US" sz="41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Au</a:t>
            </a:r>
            <a:r>
              <a:rPr lang="en-US" sz="41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tenticación de usuarios</a:t>
            </a:r>
          </a:p>
          <a:p>
            <a:pPr algn="l" marL="906770" indent="-453385" lvl="1">
              <a:lnSpc>
                <a:spcPts val="5879"/>
              </a:lnSpc>
              <a:spcBef>
                <a:spcPct val="0"/>
              </a:spcBef>
              <a:buFont typeface="Arial"/>
              <a:buChar char="•"/>
            </a:pPr>
            <a:r>
              <a:rPr lang="en-US" sz="41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Búsqueda de productos</a:t>
            </a:r>
          </a:p>
          <a:p>
            <a:pPr algn="l" marL="906770" indent="-453385" lvl="1">
              <a:lnSpc>
                <a:spcPts val="5879"/>
              </a:lnSpc>
              <a:spcBef>
                <a:spcPct val="0"/>
              </a:spcBef>
              <a:buFont typeface="Arial"/>
              <a:buChar char="•"/>
            </a:pPr>
            <a:r>
              <a:rPr lang="en-US" sz="41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Carrito de la compra</a:t>
            </a:r>
          </a:p>
          <a:p>
            <a:pPr algn="l" marL="906770" indent="-453385" lvl="1">
              <a:lnSpc>
                <a:spcPts val="5879"/>
              </a:lnSpc>
              <a:spcBef>
                <a:spcPct val="0"/>
              </a:spcBef>
              <a:buFont typeface="Arial"/>
              <a:buChar char="•"/>
            </a:pPr>
            <a:r>
              <a:rPr lang="en-US" sz="41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Persistencia con Room</a:t>
            </a:r>
          </a:p>
          <a:p>
            <a:pPr algn="l" marL="906770" indent="-453385" lvl="1">
              <a:lnSpc>
                <a:spcPts val="5879"/>
              </a:lnSpc>
              <a:spcBef>
                <a:spcPct val="0"/>
              </a:spcBef>
              <a:buFont typeface="Arial"/>
              <a:buChar char="•"/>
            </a:pPr>
            <a:r>
              <a:rPr lang="en-US" sz="41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Pantalla de cuenta</a:t>
            </a:r>
          </a:p>
          <a:p>
            <a:pPr algn="l" marL="906770" indent="-453385" lvl="1">
              <a:lnSpc>
                <a:spcPts val="5879"/>
              </a:lnSpc>
              <a:spcBef>
                <a:spcPct val="0"/>
              </a:spcBef>
              <a:buFont typeface="Arial"/>
              <a:buChar char="•"/>
            </a:pPr>
            <a:r>
              <a:rPr lang="en-US" sz="41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Cierre de sesión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2292062" y="6785816"/>
            <a:ext cx="7064180" cy="3532090"/>
          </a:xfrm>
          <a:custGeom>
            <a:avLst/>
            <a:gdLst/>
            <a:ahLst/>
            <a:cxnLst/>
            <a:rect r="r" b="b" t="t" l="l"/>
            <a:pathLst>
              <a:path h="3532090" w="7064180">
                <a:moveTo>
                  <a:pt x="0" y="0"/>
                </a:moveTo>
                <a:lnTo>
                  <a:pt x="7064180" y="0"/>
                </a:lnTo>
                <a:lnTo>
                  <a:pt x="7064180" y="3532090"/>
                </a:lnTo>
                <a:lnTo>
                  <a:pt x="0" y="35320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D1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29150" cy="10287000"/>
          </a:xfrm>
          <a:custGeom>
            <a:avLst/>
            <a:gdLst/>
            <a:ahLst/>
            <a:cxnLst/>
            <a:rect r="r" b="b" t="t" l="l"/>
            <a:pathLst>
              <a:path h="10287000" w="4629150">
                <a:moveTo>
                  <a:pt x="0" y="0"/>
                </a:moveTo>
                <a:lnTo>
                  <a:pt x="4629150" y="0"/>
                </a:lnTo>
                <a:lnTo>
                  <a:pt x="4629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29150" y="0"/>
            <a:ext cx="4629150" cy="10287000"/>
          </a:xfrm>
          <a:custGeom>
            <a:avLst/>
            <a:gdLst/>
            <a:ahLst/>
            <a:cxnLst/>
            <a:rect r="r" b="b" t="t" l="l"/>
            <a:pathLst>
              <a:path h="10287000" w="4629150">
                <a:moveTo>
                  <a:pt x="0" y="0"/>
                </a:moveTo>
                <a:lnTo>
                  <a:pt x="4629150" y="0"/>
                </a:lnTo>
                <a:lnTo>
                  <a:pt x="4629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58300" y="0"/>
            <a:ext cx="4629150" cy="10287000"/>
          </a:xfrm>
          <a:custGeom>
            <a:avLst/>
            <a:gdLst/>
            <a:ahLst/>
            <a:cxnLst/>
            <a:rect r="r" b="b" t="t" l="l"/>
            <a:pathLst>
              <a:path h="10287000" w="4629150">
                <a:moveTo>
                  <a:pt x="0" y="0"/>
                </a:moveTo>
                <a:lnTo>
                  <a:pt x="4629150" y="0"/>
                </a:lnTo>
                <a:lnTo>
                  <a:pt x="4629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-192476" y="451271"/>
            <a:ext cx="769905" cy="384953"/>
          </a:xfrm>
          <a:custGeom>
            <a:avLst/>
            <a:gdLst/>
            <a:ahLst/>
            <a:cxnLst/>
            <a:rect r="r" b="b" t="t" l="l"/>
            <a:pathLst>
              <a:path h="384953" w="769905">
                <a:moveTo>
                  <a:pt x="0" y="0"/>
                </a:moveTo>
                <a:lnTo>
                  <a:pt x="769905" y="0"/>
                </a:lnTo>
                <a:lnTo>
                  <a:pt x="769905" y="384953"/>
                </a:lnTo>
                <a:lnTo>
                  <a:pt x="0" y="384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58850" y="0"/>
            <a:ext cx="4629150" cy="10287000"/>
          </a:xfrm>
          <a:custGeom>
            <a:avLst/>
            <a:gdLst/>
            <a:ahLst/>
            <a:cxnLst/>
            <a:rect r="r" b="b" t="t" l="l"/>
            <a:pathLst>
              <a:path h="10287000" w="4629150">
                <a:moveTo>
                  <a:pt x="0" y="0"/>
                </a:moveTo>
                <a:lnTo>
                  <a:pt x="4629150" y="0"/>
                </a:lnTo>
                <a:lnTo>
                  <a:pt x="4629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4953" y="278289"/>
            <a:ext cx="3314834" cy="75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2476" b="true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DEMOSTRACIÓN</a:t>
            </a:r>
          </a:p>
          <a:p>
            <a:pPr algn="l">
              <a:lnSpc>
                <a:spcPts val="2971"/>
              </a:lnSpc>
            </a:pPr>
            <a:r>
              <a:rPr lang="en-US" sz="2476" b="true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 DE LA APLICACIÓN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5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81710" y="1720107"/>
            <a:ext cx="1526842" cy="763421"/>
          </a:xfrm>
          <a:custGeom>
            <a:avLst/>
            <a:gdLst/>
            <a:ahLst/>
            <a:cxnLst/>
            <a:rect r="r" b="b" t="t" l="l"/>
            <a:pathLst>
              <a:path h="763421" w="1526842">
                <a:moveTo>
                  <a:pt x="0" y="0"/>
                </a:moveTo>
                <a:lnTo>
                  <a:pt x="1526841" y="0"/>
                </a:lnTo>
                <a:lnTo>
                  <a:pt x="1526841" y="763421"/>
                </a:lnTo>
                <a:lnTo>
                  <a:pt x="0" y="76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42859"/>
            <a:ext cx="13703123" cy="281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0"/>
              </a:lnSpc>
            </a:pPr>
            <a:r>
              <a:rPr lang="en-US" sz="10009" b="true">
                <a:solidFill>
                  <a:srgbClr val="EFD1A9"/>
                </a:solidFill>
                <a:latin typeface="Muli Heavy"/>
                <a:ea typeface="Muli Heavy"/>
                <a:cs typeface="Muli Heavy"/>
                <a:sym typeface="Muli Heavy"/>
              </a:rPr>
              <a:t>FUNCIONALIDADES NO IMPLEMENTADAS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68515" y="5006592"/>
            <a:ext cx="9463309" cy="460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4254" indent="-572127" lvl="1">
              <a:lnSpc>
                <a:spcPts val="7419"/>
              </a:lnSpc>
              <a:spcBef>
                <a:spcPct val="0"/>
              </a:spcBef>
              <a:buFont typeface="Arial"/>
              <a:buChar char="•"/>
            </a:pPr>
            <a:r>
              <a:rPr lang="en-US" sz="52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Pasar</a:t>
            </a:r>
            <a:r>
              <a:rPr lang="en-US" sz="52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ela de pago</a:t>
            </a:r>
          </a:p>
          <a:p>
            <a:pPr algn="l" marL="1144254" indent="-572127" lvl="1">
              <a:lnSpc>
                <a:spcPts val="7419"/>
              </a:lnSpc>
              <a:spcBef>
                <a:spcPct val="0"/>
              </a:spcBef>
              <a:buFont typeface="Arial"/>
              <a:buChar char="•"/>
            </a:pPr>
            <a:r>
              <a:rPr lang="en-US" sz="52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Hi</a:t>
            </a:r>
            <a:r>
              <a:rPr lang="en-US" sz="52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storial de pedidos</a:t>
            </a:r>
          </a:p>
          <a:p>
            <a:pPr algn="l" marL="1144254" indent="-572127" lvl="1">
              <a:lnSpc>
                <a:spcPts val="7419"/>
              </a:lnSpc>
              <a:spcBef>
                <a:spcPct val="0"/>
              </a:spcBef>
              <a:buFont typeface="Arial"/>
              <a:buChar char="•"/>
            </a:pPr>
            <a:r>
              <a:rPr lang="en-US" sz="52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Reg</a:t>
            </a:r>
            <a:r>
              <a:rPr lang="en-US" sz="52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istro de usuarios</a:t>
            </a:r>
          </a:p>
          <a:p>
            <a:pPr algn="l" marL="1144254" indent="-572127" lvl="1">
              <a:lnSpc>
                <a:spcPts val="7419"/>
              </a:lnSpc>
              <a:spcBef>
                <a:spcPct val="0"/>
              </a:spcBef>
              <a:buFont typeface="Arial"/>
              <a:buChar char="•"/>
            </a:pPr>
            <a:r>
              <a:rPr lang="en-US" sz="52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B</a:t>
            </a:r>
            <a:r>
              <a:rPr lang="en-US" sz="52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ackend propio</a:t>
            </a:r>
          </a:p>
          <a:p>
            <a:pPr algn="l">
              <a:lnSpc>
                <a:spcPts val="713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2292062" y="6785816"/>
            <a:ext cx="7064180" cy="3532090"/>
          </a:xfrm>
          <a:custGeom>
            <a:avLst/>
            <a:gdLst/>
            <a:ahLst/>
            <a:cxnLst/>
            <a:rect r="r" b="b" t="t" l="l"/>
            <a:pathLst>
              <a:path h="3532090" w="7064180">
                <a:moveTo>
                  <a:pt x="0" y="0"/>
                </a:moveTo>
                <a:lnTo>
                  <a:pt x="7064180" y="0"/>
                </a:lnTo>
                <a:lnTo>
                  <a:pt x="7064180" y="3532090"/>
                </a:lnTo>
                <a:lnTo>
                  <a:pt x="0" y="35320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6521" y="1019175"/>
            <a:ext cx="6860308" cy="191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8"/>
              </a:lnSpc>
            </a:pPr>
            <a:r>
              <a:rPr lang="en-US" sz="6340" b="true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PROBLEMAS</a:t>
            </a:r>
            <a:r>
              <a:rPr lang="en-US" sz="6340" b="true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 Y SOLUCIONES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6521" y="4683218"/>
            <a:ext cx="11425037" cy="369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4272" indent="-572136" lvl="1">
              <a:lnSpc>
                <a:spcPts val="7420"/>
              </a:lnSpc>
              <a:buFont typeface="Arial"/>
              <a:buChar char="•"/>
            </a:pPr>
            <a:r>
              <a:rPr lang="en-US" sz="530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Configuración inicial de Gradle</a:t>
            </a:r>
          </a:p>
          <a:p>
            <a:pPr algn="l" marL="1144272" indent="-572136" lvl="1">
              <a:lnSpc>
                <a:spcPts val="7420"/>
              </a:lnSpc>
              <a:buFont typeface="Arial"/>
              <a:buChar char="•"/>
            </a:pPr>
            <a:r>
              <a:rPr lang="en-US" sz="530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Integración de Room</a:t>
            </a:r>
          </a:p>
          <a:p>
            <a:pPr algn="l" marL="1144272" indent="-572136" lvl="1">
              <a:lnSpc>
                <a:spcPts val="7420"/>
              </a:lnSpc>
              <a:buFont typeface="Arial"/>
              <a:buChar char="•"/>
            </a:pPr>
            <a:r>
              <a:rPr lang="en-US" sz="530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Gestión de estados en Compose</a:t>
            </a:r>
          </a:p>
          <a:p>
            <a:pPr algn="l" marL="1144272" indent="-572136" lvl="1">
              <a:lnSpc>
                <a:spcPts val="7420"/>
              </a:lnSpc>
              <a:spcBef>
                <a:spcPct val="0"/>
              </a:spcBef>
              <a:buFont typeface="Arial"/>
              <a:buChar char="•"/>
            </a:pPr>
            <a:r>
              <a:rPr lang="en-US" sz="5300">
                <a:solidFill>
                  <a:srgbClr val="305049"/>
                </a:solidFill>
                <a:latin typeface="Muli"/>
                <a:ea typeface="Muli"/>
                <a:cs typeface="Muli"/>
                <a:sym typeface="Muli"/>
              </a:rPr>
              <a:t>Uso de APIs experimentales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799980" y="1381033"/>
            <a:ext cx="914880" cy="457440"/>
          </a:xfrm>
          <a:custGeom>
            <a:avLst/>
            <a:gdLst/>
            <a:ahLst/>
            <a:cxnLst/>
            <a:rect r="r" b="b" t="t" l="l"/>
            <a:pathLst>
              <a:path h="457440" w="914880">
                <a:moveTo>
                  <a:pt x="0" y="0"/>
                </a:moveTo>
                <a:lnTo>
                  <a:pt x="914880" y="0"/>
                </a:lnTo>
                <a:lnTo>
                  <a:pt x="914880" y="457440"/>
                </a:lnTo>
                <a:lnTo>
                  <a:pt x="0" y="457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8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68635" y="2171076"/>
            <a:ext cx="5125824" cy="884994"/>
            <a:chOff x="0" y="0"/>
            <a:chExt cx="6834432" cy="117999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186119" y="301955"/>
              <a:ext cx="5648312" cy="528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OBJETIVOS CUMPLIDOS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-5400000">
              <a:off x="-294998" y="294998"/>
              <a:ext cx="1179992" cy="589996"/>
            </a:xfrm>
            <a:custGeom>
              <a:avLst/>
              <a:gdLst/>
              <a:ahLst/>
              <a:cxnLst/>
              <a:rect r="r" b="b" t="t" l="l"/>
              <a:pathLst>
                <a:path h="589996" w="1179992">
                  <a:moveTo>
                    <a:pt x="0" y="0"/>
                  </a:moveTo>
                  <a:lnTo>
                    <a:pt x="1179992" y="0"/>
                  </a:lnTo>
                  <a:lnTo>
                    <a:pt x="1179992" y="589996"/>
                  </a:lnTo>
                  <a:lnTo>
                    <a:pt x="0" y="589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068635" y="5712714"/>
            <a:ext cx="5125824" cy="884994"/>
            <a:chOff x="0" y="0"/>
            <a:chExt cx="6834432" cy="117999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186119" y="301955"/>
              <a:ext cx="5648312" cy="528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ARQUITECTURA CLARA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-5400000">
              <a:off x="-294998" y="294998"/>
              <a:ext cx="1179992" cy="589996"/>
            </a:xfrm>
            <a:custGeom>
              <a:avLst/>
              <a:gdLst/>
              <a:ahLst/>
              <a:cxnLst/>
              <a:rect r="r" b="b" t="t" l="l"/>
              <a:pathLst>
                <a:path h="589996" w="1179992">
                  <a:moveTo>
                    <a:pt x="0" y="0"/>
                  </a:moveTo>
                  <a:lnTo>
                    <a:pt x="1179992" y="0"/>
                  </a:lnTo>
                  <a:lnTo>
                    <a:pt x="1179992" y="589996"/>
                  </a:lnTo>
                  <a:lnTo>
                    <a:pt x="0" y="589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68635" y="7485984"/>
            <a:ext cx="5125824" cy="884994"/>
            <a:chOff x="0" y="0"/>
            <a:chExt cx="6834432" cy="117999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186119" y="20900"/>
              <a:ext cx="5648312" cy="1090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PROBABILIDAD DE AMPLIACION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-5400000">
              <a:off x="-294998" y="294998"/>
              <a:ext cx="1179992" cy="589996"/>
            </a:xfrm>
            <a:custGeom>
              <a:avLst/>
              <a:gdLst/>
              <a:ahLst/>
              <a:cxnLst/>
              <a:rect r="r" b="b" t="t" l="l"/>
              <a:pathLst>
                <a:path h="589996" w="1179992">
                  <a:moveTo>
                    <a:pt x="0" y="0"/>
                  </a:moveTo>
                  <a:lnTo>
                    <a:pt x="1179992" y="0"/>
                  </a:lnTo>
                  <a:lnTo>
                    <a:pt x="1179992" y="589996"/>
                  </a:lnTo>
                  <a:lnTo>
                    <a:pt x="0" y="589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 rot="0">
            <a:off x="0" y="0"/>
            <a:ext cx="9144000" cy="10287000"/>
          </a:xfrm>
          <a:prstGeom prst="rect">
            <a:avLst/>
          </a:prstGeom>
          <a:solidFill>
            <a:srgbClr val="305049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1440614" y="3784542"/>
            <a:ext cx="6262772" cy="281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0"/>
              </a:lnSpc>
            </a:pPr>
            <a:r>
              <a:rPr lang="en-US" sz="10009" b="true">
                <a:solidFill>
                  <a:srgbClr val="EFD1A9"/>
                </a:solidFill>
                <a:latin typeface="Muli Heavy"/>
                <a:ea typeface="Muli Heavy"/>
                <a:cs typeface="Muli Heavy"/>
                <a:sym typeface="Muli Heavy"/>
              </a:rPr>
              <a:t>CONCLUSIONES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068635" y="3941895"/>
            <a:ext cx="5125824" cy="884994"/>
            <a:chOff x="0" y="0"/>
            <a:chExt cx="6834432" cy="117999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186119" y="301955"/>
              <a:ext cx="5648312" cy="528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305049"/>
                  </a:solidFill>
                  <a:latin typeface="Muli"/>
                  <a:ea typeface="Muli"/>
                  <a:cs typeface="Muli"/>
                  <a:sym typeface="Muli"/>
                </a:rPr>
                <a:t>APP FUNCIONAL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-294998" y="294998"/>
              <a:ext cx="1179992" cy="589996"/>
            </a:xfrm>
            <a:custGeom>
              <a:avLst/>
              <a:gdLst/>
              <a:ahLst/>
              <a:cxnLst/>
              <a:rect r="r" b="b" t="t" l="l"/>
              <a:pathLst>
                <a:path h="589996" w="1179992">
                  <a:moveTo>
                    <a:pt x="0" y="0"/>
                  </a:moveTo>
                  <a:lnTo>
                    <a:pt x="1179992" y="0"/>
                  </a:lnTo>
                  <a:lnTo>
                    <a:pt x="1179992" y="589996"/>
                  </a:lnTo>
                  <a:lnTo>
                    <a:pt x="0" y="589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5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81710" y="1720107"/>
            <a:ext cx="1526842" cy="763421"/>
          </a:xfrm>
          <a:custGeom>
            <a:avLst/>
            <a:gdLst/>
            <a:ahLst/>
            <a:cxnLst/>
            <a:rect r="r" b="b" t="t" l="l"/>
            <a:pathLst>
              <a:path h="763421" w="1526842">
                <a:moveTo>
                  <a:pt x="0" y="0"/>
                </a:moveTo>
                <a:lnTo>
                  <a:pt x="1526841" y="0"/>
                </a:lnTo>
                <a:lnTo>
                  <a:pt x="1526841" y="763421"/>
                </a:lnTo>
                <a:lnTo>
                  <a:pt x="0" y="76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33647"/>
            <a:ext cx="13703123" cy="142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0"/>
              </a:lnSpc>
            </a:pPr>
            <a:r>
              <a:rPr lang="en-US" sz="10009" b="true">
                <a:solidFill>
                  <a:srgbClr val="EFD1A9"/>
                </a:solidFill>
                <a:latin typeface="Muli Heavy"/>
                <a:ea typeface="Muli Heavy"/>
                <a:cs typeface="Muli Heavy"/>
                <a:sym typeface="Muli Heavy"/>
              </a:rPr>
              <a:t>MEJORAS FUTURAS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68515" y="4798630"/>
            <a:ext cx="9463309" cy="500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30612" indent="-615306" lvl="1">
              <a:lnSpc>
                <a:spcPts val="7979"/>
              </a:lnSpc>
              <a:spcBef>
                <a:spcPct val="0"/>
              </a:spcBef>
              <a:buFont typeface="Arial"/>
              <a:buChar char="•"/>
            </a:pPr>
            <a:r>
              <a:rPr lang="en-US" sz="56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R</a:t>
            </a:r>
            <a:r>
              <a:rPr lang="en-US" sz="56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egistro de usuarios</a:t>
            </a:r>
          </a:p>
          <a:p>
            <a:pPr algn="l" marL="1230612" indent="-615306" lvl="1">
              <a:lnSpc>
                <a:spcPts val="7979"/>
              </a:lnSpc>
              <a:spcBef>
                <a:spcPct val="0"/>
              </a:spcBef>
              <a:buFont typeface="Arial"/>
              <a:buChar char="•"/>
            </a:pPr>
            <a:r>
              <a:rPr lang="en-US" sz="56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Hi</a:t>
            </a:r>
            <a:r>
              <a:rPr lang="en-US" sz="56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storial de pedidos</a:t>
            </a:r>
          </a:p>
          <a:p>
            <a:pPr algn="l" marL="1230612" indent="-615306" lvl="1">
              <a:lnSpc>
                <a:spcPts val="7979"/>
              </a:lnSpc>
              <a:spcBef>
                <a:spcPct val="0"/>
              </a:spcBef>
              <a:buFont typeface="Arial"/>
              <a:buChar char="•"/>
            </a:pPr>
            <a:r>
              <a:rPr lang="en-US" sz="56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B</a:t>
            </a:r>
            <a:r>
              <a:rPr lang="en-US" sz="56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ackend completo</a:t>
            </a:r>
          </a:p>
          <a:p>
            <a:pPr algn="l" marL="1230612" indent="-615306" lvl="1">
              <a:lnSpc>
                <a:spcPts val="7979"/>
              </a:lnSpc>
              <a:spcBef>
                <a:spcPct val="0"/>
              </a:spcBef>
              <a:buFont typeface="Arial"/>
              <a:buChar char="•"/>
            </a:pPr>
            <a:r>
              <a:rPr lang="en-US" sz="5699">
                <a:solidFill>
                  <a:srgbClr val="F1EEEE"/>
                </a:solidFill>
                <a:latin typeface="Muli"/>
                <a:ea typeface="Muli"/>
                <a:cs typeface="Muli"/>
                <a:sym typeface="Muli"/>
              </a:rPr>
              <a:t>Diseño más avanzado</a:t>
            </a:r>
          </a:p>
          <a:p>
            <a:pPr algn="l">
              <a:lnSpc>
                <a:spcPts val="797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2292062" y="6785816"/>
            <a:ext cx="7064180" cy="3532090"/>
          </a:xfrm>
          <a:custGeom>
            <a:avLst/>
            <a:gdLst/>
            <a:ahLst/>
            <a:cxnLst/>
            <a:rect r="r" b="b" t="t" l="l"/>
            <a:pathLst>
              <a:path h="3532090" w="7064180">
                <a:moveTo>
                  <a:pt x="0" y="0"/>
                </a:moveTo>
                <a:lnTo>
                  <a:pt x="7064180" y="0"/>
                </a:lnTo>
                <a:lnTo>
                  <a:pt x="7064180" y="3532090"/>
                </a:lnTo>
                <a:lnTo>
                  <a:pt x="0" y="35320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5143500"/>
            <a:ext cx="18288000" cy="5143500"/>
          </a:xfrm>
          <a:prstGeom prst="rect">
            <a:avLst/>
          </a:prstGeom>
          <a:solidFill>
            <a:srgbClr val="305049"/>
          </a:solid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05892" y="7292442"/>
            <a:ext cx="1691231" cy="845616"/>
          </a:xfrm>
          <a:custGeom>
            <a:avLst/>
            <a:gdLst/>
            <a:ahLst/>
            <a:cxnLst/>
            <a:rect r="r" b="b" t="t" l="l"/>
            <a:pathLst>
              <a:path h="845616" w="1691231">
                <a:moveTo>
                  <a:pt x="0" y="0"/>
                </a:moveTo>
                <a:lnTo>
                  <a:pt x="1691231" y="0"/>
                </a:lnTo>
                <a:lnTo>
                  <a:pt x="1691231" y="845616"/>
                </a:lnTo>
                <a:lnTo>
                  <a:pt x="0" y="845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16447" y="1959499"/>
            <a:ext cx="14723404" cy="122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305049"/>
                </a:solidFill>
                <a:latin typeface="Muli Heavy"/>
                <a:ea typeface="Muli Heavy"/>
                <a:cs typeface="Muli Heavy"/>
                <a:sym typeface="Muli Heavy"/>
              </a:rPr>
              <a:t>GRACIAS!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16447" y="7271742"/>
            <a:ext cx="14842853" cy="87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5"/>
              </a:lnSpc>
            </a:pPr>
            <a:r>
              <a:rPr lang="en-US" sz="5754" b="true">
                <a:solidFill>
                  <a:srgbClr val="F1EEEE"/>
                </a:solidFill>
                <a:latin typeface="Muli Heavy"/>
                <a:ea typeface="Muli Heavy"/>
                <a:cs typeface="Muli Heavy"/>
                <a:sym typeface="Muli Heavy"/>
              </a:rPr>
              <a:t>ALGUNA DUDA?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605892" y="2153793"/>
            <a:ext cx="1691231" cy="845616"/>
          </a:xfrm>
          <a:custGeom>
            <a:avLst/>
            <a:gdLst/>
            <a:ahLst/>
            <a:cxnLst/>
            <a:rect r="r" b="b" t="t" l="l"/>
            <a:pathLst>
              <a:path h="845616" w="1691231">
                <a:moveTo>
                  <a:pt x="0" y="0"/>
                </a:moveTo>
                <a:lnTo>
                  <a:pt x="1691231" y="0"/>
                </a:lnTo>
                <a:lnTo>
                  <a:pt x="1691231" y="845615"/>
                </a:lnTo>
                <a:lnTo>
                  <a:pt x="0" y="845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DAG9rGBZ6Ws</dc:identifier>
  <dcterms:modified xsi:type="dcterms:W3CDTF">2011-08-01T06:04:30Z</dcterms:modified>
  <cp:revision>1</cp:revision>
  <dc:title>Presentación Marketing Ventas Moderna Verde y Crema</dc:title>
</cp:coreProperties>
</file>